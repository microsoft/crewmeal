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CHART-SENTINEL · Meal mix by hub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Crew meals</c:v>
                </c:pt>
              </c:strCache>
            </c:strRef>
          </c:tx>
          <c:spPr>
            <a:solidFill>
              <a:srgbClr val="138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ICN</c:v>
                  </c:pt>
                  <c:pt idx="1">
                    <c:v>LAX</c:v>
                  </c:pt>
                  <c:pt idx="2">
                    <c:v>CDG</c:v>
                  </c:pt>
                  <c:pt idx="3">
                    <c:v>SIN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</c:v>
                </c:pt>
                <c:pt idx="1">
                  <c:v>72</c:v>
                </c:pt>
                <c:pt idx="2">
                  <c:v>64</c:v>
                </c:pt>
                <c:pt idx="3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Special meals</c:v>
                </c:pt>
              </c:strCache>
            </c:strRef>
          </c:tx>
          <c:spPr>
            <a:solidFill>
              <a:srgbClr val="F26B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ICN</c:v>
                  </c:pt>
                  <c:pt idx="1">
                    <c:v>LAX</c:v>
                  </c:pt>
                  <c:pt idx="2">
                    <c:v>CDG</c:v>
                  </c:pt>
                  <c:pt idx="3">
                    <c:v>SIN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28</c:v>
                </c:pt>
                <c:pt idx="2">
                  <c:v>36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016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SPEAKER-NOTE-SENTINEL-906
발표자 메모: PDF 본문에는 나타나지 않아야 하며 PPTX source manifest에서만 평가합니다.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azure/ai-services/content-understanding/overview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43000" y="256032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읽기 순서와 다단 레이아웃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" y="804672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Visual order should remain A → B → C even though the content is distributed across columns.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3035808" cy="416052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10512"/>
            <a:ext cx="566928" cy="566928"/>
          </a:xfrm>
          <a:prstGeom prst="ellipse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110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3347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12B"/>
                </a:solidFill>
              </a:rPr>
              <a:t>READING-A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</a:rPr>
              <a:t>첫 번째 단계 · 수요 신호 수집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24528" y="1481328"/>
            <a:ext cx="3035808" cy="416052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810512"/>
            <a:ext cx="566928" cy="566928"/>
          </a:xfrm>
          <a:prstGeom prst="ellipse">
            <a:avLst/>
          </a:prstGeom>
          <a:solidFill>
            <a:srgbClr val="138A8A"/>
          </a:solidFill>
          <a:ln w="12700">
            <a:solidFill>
              <a:srgbClr val="13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9110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63347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12B"/>
                </a:solidFill>
              </a:rPr>
              <a:t>READING-B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80560" y="3200400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</a:rPr>
              <a:t>두 번째 단계 · 메뉴 조합 최적화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90688" y="1481328"/>
            <a:ext cx="3035808" cy="416052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1810512"/>
            <a:ext cx="566928" cy="5669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19110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0" y="263347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12B"/>
                </a:solidFill>
              </a:rPr>
              <a:t>READING-C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46720" y="3200400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</a:rPr>
              <a:t>세 번째 단계 · 승무원에게 배포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5961888"/>
            <a:ext cx="10168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ORDER-SENTINEL-A-B-C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0"/>
                </a:solidFill>
              </a:rPr>
              <a:t>BENCHMARK · READING ORDER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43000" y="256032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병합 셀과 다단 헤더 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" y="804672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table tests merged headers, row spans, Korean labels, numeric values, and special symbols.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17352" cy="4224528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194560"/>
                <a:gridCol w="2194560"/>
                <a:gridCol w="2221992"/>
              </a:tblGrid>
              <a:tr h="68580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TABLE-REGION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 상반기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8A8A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 하반기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38"/>
                    </a:solidFill>
                  </a:tcPr>
                </a:tc>
                <a:tc hMerge="1">
                  <a:tcPr/>
                </a:tc>
              </a:tr>
              <a:tr h="68580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식수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8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만족도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8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식수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1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만족도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1C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ICN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12,480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4.2 / 5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13,950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4.6 / 5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LAX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8,120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3.9 / 5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9,330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4.3 / 5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CDG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6,740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4.1 / 5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7,010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4.4 / 5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합계 Σ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27,340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30,290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 +10.8%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5897880"/>
            <a:ext cx="10817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TABLE-CELL-LAX-9330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0"/>
                </a:solidFill>
              </a:rPr>
              <a:t>BENCHMARK · TABLE STRUCTURE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43000" y="256032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네이티브 차트와 데이터 레이블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" y="804672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 real PowerPoint chart should preserve series, categories, values, title, and visual trend.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7790688" cy="4828032"/>
          </a:xfrm>
          <a:prstGeom prst="roundRect">
            <a:avLst>
              <a:gd name="adj" fmla="val 1515"/>
            </a:avLst>
          </a:prstGeom>
          <a:solidFill>
            <a:srgbClr val="FCFAF5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12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58368" y="1325880"/>
          <a:ext cx="74523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458200" y="1517904"/>
            <a:ext cx="2971800" cy="3950208"/>
          </a:xfrm>
          <a:prstGeom prst="roundRect">
            <a:avLst>
              <a:gd name="adj" fmla="val 2462"/>
            </a:avLst>
          </a:prstGeom>
          <a:solidFill>
            <a:srgbClr val="17212B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759952" y="192024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4B942"/>
                </a:solidFill>
              </a:rPr>
              <a:t>91%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759952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SIN regular meal share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759952" y="397764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D8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TREND-CONCEPT: SIN highest, CDG lowest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0"/>
                </a:solidFill>
              </a:rPr>
              <a:t>BENCHMARK · NATIVE CHART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B38"/>
                </a:solidFill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43000" y="256032"/>
            <a:ext cx="10012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도형·연결선 기반 프로세스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804672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CC"/>
                </a:solidFill>
              </a:rPr>
              <a:t>Connectors are intentionally drawn before nodes so they remain behind the labels.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984248" y="2907792"/>
            <a:ext cx="1078992" cy="0"/>
          </a:xfrm>
          <a:prstGeom prst="line">
            <a:avLst/>
          </a:prstGeom>
          <a:noFill/>
          <a:ln w="25400">
            <a:solidFill>
              <a:srgbClr val="8793A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297680" y="2907792"/>
            <a:ext cx="1078992" cy="0"/>
          </a:xfrm>
          <a:prstGeom prst="line">
            <a:avLst/>
          </a:prstGeom>
          <a:noFill/>
          <a:ln w="25400">
            <a:solidFill>
              <a:srgbClr val="8793A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611112" y="2907792"/>
            <a:ext cx="1078992" cy="0"/>
          </a:xfrm>
          <a:prstGeom prst="line">
            <a:avLst/>
          </a:prstGeom>
          <a:noFill/>
          <a:ln w="25400">
            <a:solidFill>
              <a:srgbClr val="8793A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924544" y="2907792"/>
            <a:ext cx="1078992" cy="0"/>
          </a:xfrm>
          <a:prstGeom prst="line">
            <a:avLst/>
          </a:prstGeom>
          <a:noFill/>
          <a:ln w="25400">
            <a:solidFill>
              <a:srgbClr val="8793A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9808" y="2057400"/>
            <a:ext cx="1572768" cy="1700784"/>
          </a:xfrm>
          <a:prstGeom prst="hexagon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235000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86968" y="280720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FLOW-01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40965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Collect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063240" y="2057400"/>
            <a:ext cx="1572768" cy="1700784"/>
          </a:xfrm>
          <a:prstGeom prst="hexagon">
            <a:avLst/>
          </a:prstGeom>
          <a:solidFill>
            <a:srgbClr val="138A8A"/>
          </a:solidFill>
          <a:ln w="12700">
            <a:solidFill>
              <a:srgbClr val="138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35000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00400" y="280720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FLOW-02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53512" y="40965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Classify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376672" y="2057400"/>
            <a:ext cx="1572768" cy="1700784"/>
          </a:xfrm>
          <a:prstGeom prst="hexag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235000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513832" y="280720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FLOW-03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66944" y="40965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Optimize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90104" y="2057400"/>
            <a:ext cx="1572768" cy="1700784"/>
          </a:xfrm>
          <a:prstGeom prst="hexagon">
            <a:avLst/>
          </a:prstGeom>
          <a:solidFill>
            <a:srgbClr val="9B6BC6"/>
          </a:solidFill>
          <a:ln w="12700">
            <a:solidFill>
              <a:srgbClr val="9B6B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7304" y="235000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827264" y="280720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FLOW-04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80376" y="40965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Approve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003536" y="2057400"/>
            <a:ext cx="1572768" cy="1700784"/>
          </a:xfrm>
          <a:prstGeom prst="hexagon">
            <a:avLst/>
          </a:prstGeom>
          <a:solidFill>
            <a:srgbClr val="4F9B72"/>
          </a:solidFill>
          <a:ln w="12700">
            <a:solidFill>
              <a:srgbClr val="4F9B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60736" y="235000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140696" y="280720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FLOW-05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893808" y="40965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Serve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24128" y="5230368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D8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PROCESS-CONCEPT: Collect → Classify → Optimize → Approve → Serve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0"/>
                </a:solidFill>
              </a:rPr>
              <a:t>BENCHMARK · SHAPES AND CONNECTORS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43000" y="256032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이미지 OCR, alt text, 외부 링크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" y="804672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visible sentinel exists only in raster pixels; accessibility metadata should remain source-only.</a:t>
            </a:r>
            <a:endParaRPr lang="en-US" sz="1050" dirty="0"/>
          </a:p>
        </p:txBody>
      </p:sp>
      <p:pic>
        <p:nvPicPr>
          <p:cNvPr id="5" name="Image 0" descr="ALT-SENTINEL: 상승 곡선과 18.5% 만족도 개선을 보여주는 대시보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25880"/>
            <a:ext cx="7973568" cy="43342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79408" y="1325880"/>
            <a:ext cx="2542032" cy="4334256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4">
            <a:hlinkClick r:id="rId2" tooltip=""/>
          </p:cNvPr>
          <p:cNvSpPr/>
          <p:nvPr/>
        </p:nvSpPr>
        <p:spPr>
          <a:xfrm>
            <a:off x="9253728" y="182880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F26B38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LINK-SENTINEL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253728" y="2487168"/>
            <a:ext cx="1993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6454F"/>
                </a:solidFill>
              </a:rPr>
              <a:t>Open the official Azure Content Understanding overview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253728" y="431596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The link should survive PPTX and PDF conversion.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0"/>
                </a:solidFill>
              </a:rPr>
              <a:t>BENCHMARK · IMAGE OCR / ALT TEXT / HYPERLINK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43000" y="256032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혼합 언어, 특수기호, 중복 요소, 발표자 노트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" y="804672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Near-identical cards test deduplication while notes remain non-visual source metadata.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063240" cy="1874520"/>
          </a:xfrm>
          <a:prstGeom prst="roundRect">
            <a:avLst>
              <a:gd name="adj" fmla="val 3902"/>
            </a:avLst>
          </a:prstGeom>
          <a:solidFill>
            <a:srgbClr val="E8F3F2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28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DUPLICATE-ALPHA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26771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6454F"/>
                </a:solidFill>
              </a:rPr>
              <a:t>Meal #42 · 식사 #42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15968" y="1417320"/>
            <a:ext cx="3063240" cy="1874520"/>
          </a:xfrm>
          <a:prstGeom prst="roundRect">
            <a:avLst>
              <a:gd name="adj" fmla="val 3902"/>
            </a:avLst>
          </a:prstGeom>
          <a:solidFill>
            <a:srgbClr val="FFF0EA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44568" y="1728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DUPLICATE-ALPHA-2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44568" y="226771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6454F"/>
                </a:solidFill>
              </a:rPr>
              <a:t>Meal #42 · 식사 #42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46136" y="1417320"/>
            <a:ext cx="3063240" cy="1874520"/>
          </a:xfrm>
          <a:prstGeom prst="roundRect">
            <a:avLst>
              <a:gd name="adj" fmla="val 3902"/>
            </a:avLst>
          </a:prstGeom>
          <a:solidFill>
            <a:srgbClr val="FFF7DD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74736" y="1728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DUPLICATE-BETA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74736" y="226771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6454F"/>
                </a:solidFill>
              </a:rPr>
              <a:t>Meal #42 · 식사 #42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207008" y="3904488"/>
            <a:ext cx="9765792" cy="1417320"/>
          </a:xfrm>
          <a:prstGeom prst="roundRect">
            <a:avLst>
              <a:gd name="adj" fmla="val 5161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72768" y="4343400"/>
            <a:ext cx="903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MIXED-UNICODE · 한글 English 日本語 · ± ∑ → € ₩ · 2026-07-15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572768" y="5715000"/>
            <a:ext cx="9034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NOTES-ARE-SOURCE-ONLY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0"/>
                </a:solidFill>
              </a:rPr>
              <a:t>BENCHMARK · UNICODE / DUPLICATES / NOTES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 PowerPoint preprocessing benchmark</dc:title>
  <dc:subject>Azure Content Understanding PPTX preprocessing benchmark</dc:subject>
  <dc:creator>Crewmeal PPT PoC</dc:creator>
  <cp:lastModifiedBy>Crewmeal PPT PoC</cp:lastModifiedBy>
  <cp:revision>1</cp:revision>
  <dcterms:created xsi:type="dcterms:W3CDTF">2026-07-16T22:50:53Z</dcterms:created>
  <dcterms:modified xsi:type="dcterms:W3CDTF">2026-07-16T22:50:53Z</dcterms:modified>
</cp:coreProperties>
</file>